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480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ARGX | public-data interview project | 9 Oct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784080" y="65105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480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investment advice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480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480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argenx (ARGX)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76656" y="11430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9E8"/>
                </a:solidFill>
              </a:rPr>
              <a:t>Long the commercial franchise after the pipeline reset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17190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B9CD"/>
                </a:solidFill>
              </a:rPr>
              <a:t>Public-data investment research pitch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635240" y="658368"/>
            <a:ext cx="3840480" cy="1828800"/>
          </a:xfrm>
          <a:prstGeom prst="roundRect">
            <a:avLst>
              <a:gd name="adj" fmla="val 2500"/>
            </a:avLst>
          </a:prstGeom>
          <a:solidFill>
            <a:srgbClr val="102B45"/>
          </a:solidFill>
          <a:ln w="12700">
            <a:solidFill>
              <a:srgbClr val="3551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896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B9CD"/>
                </a:solidFill>
              </a:rPr>
              <a:t>CURRENT CALL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18120" y="122529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LONG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955280" y="17465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8F0"/>
                </a:solidFill>
              </a:rPr>
              <a:t>at $825.03 | PT $1,006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2971800"/>
            <a:ext cx="6766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Why: the October selloff reset expectations while VYVGART is still scaling rapidly, margins are expanding, and the remaining pipeline provides multiple independent upside paths.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3232" y="4453128"/>
            <a:ext cx="10698480" cy="0"/>
          </a:xfrm>
          <a:prstGeom prst="line">
            <a:avLst/>
          </a:prstGeom>
          <a:noFill/>
          <a:ln w="17780">
            <a:solidFill>
              <a:srgbClr val="3551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754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EB9CD"/>
                </a:solidFill>
              </a:rPr>
              <a:t>Key checkpoint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50474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Q3 2026 results | 22 Oct 2026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5897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B9CD"/>
                </a:solidFill>
              </a:rPr>
              <a:t>Catherina Haast | Sector Data Analyst interview project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83680" y="58978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29AAF"/>
                </a:solidFill>
              </a:rPr>
              <a:t>Sources: argenx releases; Yahoo Finance reference close. Educational use only.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480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Investment snapshot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680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875"/>
                </a:solidFill>
              </a:rPr>
              <a:t>The selloff removed Sjogren's value, but the commercial franchise and remaining pipeline support a long setup.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5603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54864" cy="1325880"/>
          </a:xfrm>
          <a:prstGeom prst="rect">
            <a:avLst/>
          </a:prstGeom>
          <a:solidFill>
            <a:srgbClr val="2C5876"/>
          </a:solidFill>
          <a:ln w="12700">
            <a:solidFill>
              <a:srgbClr val="2C58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99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6875"/>
                </a:solidFill>
              </a:rPr>
              <a:t>Q2 2026 SALES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67335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3"/>
                </a:solidFill>
              </a:rPr>
              <a:t>$1.516bn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77240" y="21305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875"/>
                </a:solidFill>
              </a:rPr>
              <a:t>+60% YoY | +17% QoQ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37560" y="1234440"/>
            <a:ext cx="25603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234440"/>
            <a:ext cx="54864" cy="1325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399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6875"/>
                </a:solidFill>
              </a:rPr>
              <a:t>H1 OPERATING PROFIT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20440" y="167335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3"/>
                </a:solidFill>
              </a:rPr>
              <a:t>$887m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520440" y="21305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875"/>
                </a:solidFill>
              </a:rPr>
              <a:t>Q2 operating profit: $494m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80760" y="1234440"/>
            <a:ext cx="25603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234440"/>
            <a:ext cx="54864" cy="1325880"/>
          </a:xfrm>
          <a:prstGeom prst="rect">
            <a:avLst/>
          </a:prstGeom>
          <a:solidFill>
            <a:srgbClr val="2C5876"/>
          </a:solidFill>
          <a:ln w="12700">
            <a:solidFill>
              <a:srgbClr val="2C58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399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6875"/>
                </a:solidFill>
              </a:rPr>
              <a:t>JUNE LIQUIDITY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263640" y="167335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3"/>
                </a:solidFill>
              </a:rPr>
              <a:t>$5.2bn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263640" y="21305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875"/>
                </a:solidFill>
              </a:rPr>
              <a:t>cash + current financial assets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823960" y="1234440"/>
            <a:ext cx="25603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234440"/>
            <a:ext cx="54864" cy="1325880"/>
          </a:xfrm>
          <a:prstGeom prst="rect">
            <a:avLst/>
          </a:prstGeom>
          <a:solidFill>
            <a:srgbClr val="A86800"/>
          </a:solidFill>
          <a:ln w="12700">
            <a:solidFill>
              <a:srgbClr val="A86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06840" y="1399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6875"/>
                </a:solidFill>
              </a:rPr>
              <a:t>OCT 9 CLOSE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006840" y="167335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3"/>
                </a:solidFill>
              </a:rPr>
              <a:t>$825.03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006840" y="21305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875"/>
                </a:solidFill>
              </a:rPr>
              <a:t>~$51.9bn market cap (secondary)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58368" y="2944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What is attractive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3232" y="3337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7212B"/>
                </a:solidFill>
              </a:rPr>
              <a:t>VYVGART has scaled rapidly and is now highly profitable.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" y="38587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7212B"/>
                </a:solidFill>
              </a:rPr>
              <a:t>Positive myositis Phase 3 data supports additional efgartigimod expansion.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437997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7212B"/>
                </a:solidFill>
              </a:rPr>
              <a:t>FB102 celiac Phase 2 success preserves non-FcRn pipeline optionality.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2944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</a:rPr>
              <a:t>Why the selloff creates an entry point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17920" y="33375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7212B"/>
                </a:solidFill>
              </a:rPr>
              <a:t>The current price is ~20.5x the revised base FY2027 EPS, below the multiple used for the target.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38587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7212B"/>
                </a:solidFill>
              </a:rPr>
              <a:t>Base case assumes 25% FY2027 growth, still a major deceleration from Q2's +60% YoY pace.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437997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7212B"/>
                </a:solidFill>
              </a:rPr>
              <a:t>FB102 celiac success and upcoming MMN data provide upside without relying on Sjogren's.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51960" y="5440680"/>
            <a:ext cx="3703320" cy="310896"/>
          </a:xfrm>
          <a:prstGeom prst="roundRect">
            <a:avLst>
              <a:gd name="adj" fmla="val 14706"/>
            </a:avLst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25112" y="5504688"/>
            <a:ext cx="3557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3"/>
                </a:solidFill>
              </a:rPr>
              <a:t>Decision: LONG | $1,006 base target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94360" y="619963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A8491"/>
                </a:solidFill>
              </a:rPr>
              <a:t>Sources: argenx H1/Q2 2026 release (23 Jul 2026); Yahoo Finance ARGX quote (9 Oct 2026).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480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Commercial execution is still the core thesis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680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875"/>
                </a:solidFill>
              </a:rPr>
              <a:t>Sales have compounded rapidly; the investment question is how much deceleration is already priced in.</a:t>
            </a:r>
            <a:endParaRPr lang="en-US" sz="1050" dirty="0"/>
          </a:p>
        </p:txBody>
      </p:sp>
      <p:pic>
        <p:nvPicPr>
          <p:cNvPr id="4" name="Image 0" descr="/mnt/data/argenx_build/argenx-pitch/outputs/figures/01_sales_grow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70432"/>
            <a:ext cx="690372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26680" y="1234440"/>
            <a:ext cx="3749040" cy="4251960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Read-through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0" y="20848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Q2 reacceleration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46720" y="240487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+17% QoQ after a nearly flat Q1. The absolute dollar step-up was $218m.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0" y="33649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Operating leverage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46720" y="368503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Q2 operating profit reached $494m, implying ~32.6% of product sales.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46720" y="4526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6800"/>
                </a:solidFill>
              </a:rPr>
              <a:t>What I need next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046720" y="48463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Q3 must show that expansion is durable enough to offset slowing percentage growth.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360" y="619963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A8491"/>
                </a:solidFill>
              </a:rPr>
              <a:t>Source: argenx quarterly releases / SEC filings; calculations in outputs/tables/growth_table.csv.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480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October was a pipeline reset, not a single-signal day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680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875"/>
                </a:solidFill>
              </a:rPr>
              <a:t>Two clinical releases arrived at the same time, so the price reaction cannot be attributed cleanly to one headline.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166360" cy="3337560"/>
          </a:xfrm>
          <a:prstGeom prst="roundRect">
            <a:avLst>
              <a:gd name="adj" fmla="val 1370"/>
            </a:avLst>
          </a:prstGeom>
          <a:solidFill>
            <a:srgbClr val="FCE8E6"/>
          </a:solidFill>
          <a:ln w="12700">
            <a:solidFill>
              <a:srgbClr val="E8B6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572768"/>
            <a:ext cx="1170432" cy="310896"/>
          </a:xfrm>
          <a:prstGeom prst="roundRect">
            <a:avLst>
              <a:gd name="adj" fmla="val 14706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63677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NEGATIVE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60120" y="20299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</a:rPr>
              <a:t>UNITY / Sjogren's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6060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</a:rPr>
              <a:t>Phase 3 discontinued for futility after the independent monitoring committee concluded the primary endpoint could not be met.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9136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261E"/>
                </a:solidFill>
              </a:rPr>
              <a:t>Model treatment: zero explicit Sjogren's revenue.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27648" y="1325880"/>
            <a:ext cx="5166360" cy="3337560"/>
          </a:xfrm>
          <a:prstGeom prst="roundRect">
            <a:avLst>
              <a:gd name="adj" fmla="val 1370"/>
            </a:avLst>
          </a:prstGeom>
          <a:solidFill>
            <a:srgbClr val="E8F3EA"/>
          </a:solidFill>
          <a:ln w="12700">
            <a:solidFill>
              <a:srgbClr val="B9D7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01968" y="1572768"/>
            <a:ext cx="1170432" cy="310896"/>
          </a:xfrm>
          <a:prstGeom prst="roundRect">
            <a:avLst>
              <a:gd name="adj" fmla="val 1470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63677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POSITIVE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601968" y="20299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</a:rPr>
              <a:t>FB102 / celiac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01968" y="26060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</a:rPr>
              <a:t>Phase 2 met the primary endpoint (p=0.0176). argenx plans to advance FB102 into Phase 3 development.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01968" y="39136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Model treatment: optionality, but no discrete revenue yet.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03120" y="5010912"/>
            <a:ext cx="8001000" cy="731520"/>
          </a:xfrm>
          <a:prstGeom prst="roundRect">
            <a:avLst>
              <a:gd name="adj" fmla="val 625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5230368"/>
            <a:ext cx="7543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Investment read-through: lower confidence in broad efgartigimod expansion, but not a break in the approved franchise.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619963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A8491"/>
                </a:solidFill>
              </a:rPr>
              <a:t>Primary sources: argenx UNITY update and FB102 celiac Phase 2 release, both 8 Oct 2026.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480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stock reprices hard around clinical information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680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875"/>
                </a:solidFill>
              </a:rPr>
              <a:t>A small event study shows large abnormal moves, but the sample is exploratory and several events are confounded.</a:t>
            </a:r>
            <a:endParaRPr lang="en-US" sz="1050" dirty="0"/>
          </a:p>
        </p:txBody>
      </p:sp>
      <p:pic>
        <p:nvPicPr>
          <p:cNvPr id="4" name="Image 0" descr="/mnt/data/argenx_build/argenx-pitch/outputs/figures/07_event_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07008"/>
            <a:ext cx="736092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19872" y="1325880"/>
            <a:ext cx="3337560" cy="41148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Two useful anchors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412480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</a:rPr>
              <a:t>+15.7%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412480" y="256032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12B"/>
                </a:solidFill>
              </a:rPr>
              <a:t>CAR[0,1] around positive ALKIVIA myositis data (17 Aug).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412480" y="3429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261E"/>
                </a:solidFill>
              </a:rPr>
              <a:t>-12.7%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412480" y="38404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12B"/>
                </a:solidFill>
              </a:rPr>
              <a:t>CAR[0,1] around the 8 Oct mixed clinical day. Volume was ~8.3x baseline on day 0.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412480" y="48920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6800"/>
                </a:solidFill>
              </a:rPr>
              <a:t>Use: risk calibration, not causal inference.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619963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A8491"/>
                </a:solidFill>
              </a:rPr>
              <a:t>Method: market model vs XBI, 100-day estimation windows. See src/event_study.py and docs/limitations.md.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480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case supports a 22% upside target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680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875"/>
                </a:solidFill>
              </a:rPr>
              <a:t>The long does not require Sjogren's revenue: it rests on commercial execution, operating leverage, and a defensible premium multiple.</a:t>
            </a:r>
            <a:endParaRPr lang="en-US" sz="1050" dirty="0"/>
          </a:p>
        </p:txBody>
      </p:sp>
      <p:pic>
        <p:nvPicPr>
          <p:cNvPr id="4" name="Image 0" descr="/mnt/data/argenx_build/argenx-pitch/outputs/figures/05_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713232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8120" y="1298448"/>
            <a:ext cx="3657600" cy="4224528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19872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Scenario drivers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19872" y="2084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3261E"/>
                </a:solidFill>
              </a:rPr>
              <a:t>BEAR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823960" y="20665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12B"/>
                </a:solidFill>
              </a:rPr>
              <a:t>12% FY27 growth | 30% margin | 18x P/E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119872" y="28163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6875"/>
                </a:solidFill>
              </a:rPr>
              <a:t>BASE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823960" y="27980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12B"/>
                </a:solidFill>
              </a:rPr>
              <a:t>25% FY27 growth | 38% margin | 25x P/E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119872" y="35478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BULL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823960" y="35295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12B"/>
                </a:solidFill>
              </a:rPr>
              <a:t>35% FY27 growth | 40% margin | 30x P/E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138160" y="4160520"/>
            <a:ext cx="2834640" cy="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38160" y="440740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6800"/>
                </a:solidFill>
              </a:rPr>
              <a:t>Base: $40.23 FY27 EPS x 25x = $1,006/share (+22%).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4360" y="619963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A8491"/>
                </a:solidFill>
              </a:rPr>
              <a:t>Model: config/valuation_inputs.yaml; outputs/tables/valuation_scenarios.csv. Price $825.03 from Yahoo Finance.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480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long is a commercial-growth plus multiple-durability call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680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875"/>
                </a:solidFill>
              </a:rPr>
              <a:t>At $825, the market pays ~20.5x base FY2027 EPS. The thesis works if growth remains strong enough to sustain a ~25x multiple.</a:t>
            </a:r>
            <a:endParaRPr lang="en-US" sz="1050" dirty="0"/>
          </a:p>
        </p:txBody>
      </p:sp>
      <p:pic>
        <p:nvPicPr>
          <p:cNvPr id="4" name="Image 0" descr="/mnt/data/argenx_build/argenx-pitch/outputs/figures/06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25296"/>
            <a:ext cx="699516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54112" y="1298448"/>
            <a:ext cx="3675888" cy="4187952"/>
          </a:xfrm>
          <a:prstGeom prst="roundRect">
            <a:avLst>
              <a:gd name="adj" fmla="val 1244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83296" y="167335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Reverse valuation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83296" y="22677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9E8"/>
                </a:solidFill>
              </a:rPr>
              <a:t>10% annual return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7D9E8"/>
                </a:solidFill>
              </a:rPr>
              <a:t>25x exit P/E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83296" y="29718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$8.9bn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083296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9E8"/>
                </a:solidFill>
              </a:rPr>
              <a:t>2030 product sales required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83296" y="40690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FD3A8"/>
                </a:solidFill>
              </a:rPr>
              <a:t>~9.4%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8083296" y="4572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9E8"/>
                </a:solidFill>
              </a:rPr>
              <a:t>revenue CAGR from FY2026E base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619963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A8491"/>
                </a:solidFill>
              </a:rPr>
              <a:t>Reverse valuation assumes 40% 2030 operating margin and base tax/financial-income assumptions.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480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 thesis: catalysts, checkpoint, and invalidation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680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875"/>
                </a:solidFill>
              </a:rPr>
              <a:t>The recommendation is explicit, but it is tied to observable commercial and clinical evidence.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3520440" cy="4251960"/>
          </a:xfrm>
          <a:prstGeom prst="roundRect">
            <a:avLst>
              <a:gd name="adj" fmla="val 1299"/>
            </a:avLst>
          </a:prstGeom>
          <a:solidFill>
            <a:srgbClr val="E8F3EA"/>
          </a:solidFill>
          <a:ln w="12700">
            <a:solidFill>
              <a:srgbClr val="B9D7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72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WHY LONG NOW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7212B"/>
                </a:solidFill>
              </a:rPr>
              <a:t>VYVGART remains the dominant earnings engine after the Sjogren's reset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7212B"/>
                </a:solidFill>
              </a:rPr>
              <a:t>25% FY27 growth is a meaningful haircut from current reported growth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7212B"/>
                </a:solidFill>
              </a:rPr>
              <a:t>FB102 and empasiprubart add upside not required in the base case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234440"/>
            <a:ext cx="3520440" cy="4251960"/>
          </a:xfrm>
          <a:prstGeom prst="roundRect">
            <a:avLst>
              <a:gd name="adj" fmla="val 1299"/>
            </a:avLst>
          </a:prstGeom>
          <a:solidFill>
            <a:srgbClr val="FFF4D6"/>
          </a:solidFill>
          <a:ln w="12700">
            <a:solidFill>
              <a:srgbClr val="E8D4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572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6800"/>
                </a:solidFill>
              </a:rPr>
              <a:t>NEXT CHECKPOINT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45152" y="226771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F33"/>
                </a:solidFill>
              </a:rPr>
              <a:t>22 OCT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45152" y="2788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Q3 2026 RESULTS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345643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Watch: sales growth, operating leverage, post-Forte cash, and updated clinical timing.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28432" y="1234440"/>
            <a:ext cx="3520440" cy="4251960"/>
          </a:xfrm>
          <a:prstGeom prst="roundRect">
            <a:avLst>
              <a:gd name="adj" fmla="val 1299"/>
            </a:avLst>
          </a:prstGeom>
          <a:solidFill>
            <a:srgbClr val="FCE8E6"/>
          </a:solidFill>
          <a:ln w="12700">
            <a:solidFill>
              <a:srgbClr val="E8B6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5727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261E"/>
                </a:solidFill>
              </a:rPr>
              <a:t>THESIS BREAKERS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47888" y="2148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7212B"/>
                </a:solidFill>
              </a:rPr>
              <a:t>VYVGART growth decelerates faster than the market expects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47888" y="2971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7212B"/>
                </a:solidFill>
              </a:rPr>
              <a:t>Margins weaken despite scale or cash use is materially worse than expected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47888" y="3886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7212B"/>
                </a:solidFill>
              </a:rPr>
              <a:t>Additional late-stage failures undermine the premium pipeline multiple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73552" y="5623560"/>
            <a:ext cx="5669280" cy="475488"/>
          </a:xfrm>
          <a:prstGeom prst="roundRect">
            <a:avLst>
              <a:gd name="adj" fmla="val 961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576986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Current call: LONG at $825.03 | 12m PT $1,006 (+22%)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619963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A8491"/>
                </a:solidFill>
              </a:rPr>
              <a:t>Conclusion based on public information through 9 Oct 2026. Q3 results are the next major thesis check.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480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Independent interview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argenx (ARGX): long the commercial franchise after the pipeline reset</dc:title>
  <dc:subject>argenx (ARGX) investment research pitch</dc:subject>
  <dc:creator>Catherina Haast</dc:creator>
  <cp:lastModifiedBy>Catherina Haast</cp:lastModifiedBy>
  <cp:revision>1</cp:revision>
  <dcterms:created xsi:type="dcterms:W3CDTF">2026-10-11T14:46:26Z</dcterms:created>
  <dcterms:modified xsi:type="dcterms:W3CDTF">2026-10-11T14:46:26Z</dcterms:modified>
</cp:coreProperties>
</file>